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Profit ($) on Demo Workload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FCFS</c:v>
                </c:pt>
                <c:pt idx="1">
                  <c:v>SJF</c:v>
                </c:pt>
                <c:pt idx="2">
                  <c:v>Priority</c:v>
                </c:pt>
                <c:pt idx="3">
                  <c:v>Proposed Greedy</c:v>
                </c:pt>
                <c:pt idx="4">
                  <c:v>Proposed Exact DP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490</c:v>
                </c:pt>
                <c:pt idx="1">
                  <c:v>540</c:v>
                </c:pt>
                <c:pt idx="2">
                  <c:v>585</c:v>
                </c:pt>
                <c:pt idx="3">
                  <c:v>725</c:v>
                </c:pt>
                <c:pt idx="4">
                  <c:v>765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520-4CFE-850C-FC9620B29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latin typeface="Inter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400">
          <a:latin typeface="Inter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Greedy Time (ms)</c:v>
                </c:pt>
              </c:strCache>
            </c:strRef>
          </c:tx>
          <c:spPr>
            <a:solidFill>
              <a:srgbClr val="2563EB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10 Jobs</c:v>
                </c:pt>
                <c:pt idx="1">
                  <c:v>50 Jobs</c:v>
                </c:pt>
                <c:pt idx="2">
                  <c:v>100 Jobs</c:v>
                </c:pt>
                <c:pt idx="3">
                  <c:v>500 Jobs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0.33</c:v>
                </c:pt>
                <c:pt idx="1">
                  <c:v>1.08</c:v>
                </c:pt>
                <c:pt idx="2">
                  <c:v>2.72</c:v>
                </c:pt>
                <c:pt idx="3">
                  <c:v>10.74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425-432A-8806-5E29F124F94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DP Time (ms, Capped at 100)</c:v>
                </c:pt>
              </c:strCache>
            </c:strRef>
          </c:tx>
          <c:spPr>
            <a:solidFill>
              <a:srgbClr val="0D9488"/>
            </a:solidFill>
          </c:spPr>
          <c:invertIfNegative val="1"/>
          <c:cat>
            <c:strRef>
              <c:f>Sheet1!$A$2:$A$5</c:f>
              <c:strCache>
                <c:ptCount val="4"/>
                <c:pt idx="0">
                  <c:v>10 Jobs</c:v>
                </c:pt>
                <c:pt idx="1">
                  <c:v>50 Jobs</c:v>
                </c:pt>
                <c:pt idx="2">
                  <c:v>100 Jobs</c:v>
                </c:pt>
                <c:pt idx="3">
                  <c:v>500 Jobs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0.78</c:v>
                </c:pt>
                <c:pt idx="1">
                  <c:v>39.6</c:v>
                </c:pt>
                <c:pt idx="2">
                  <c:v>100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425-432A-8806-5E29F124F9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Inter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1400">
              <a:latin typeface="Inter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400">
          <a:latin typeface="Inter"/>
        </a:defRPr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6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b="1" dirty="0">
              <a:solidFill>
                <a:srgbClr val="60A5FA"/>
              </a:solidFill>
              <a:latin typeface="Inter"/>
            </a:endParaRPr>
          </a:p>
        </p:txBody>
      </p:sp>
      <p:pic>
        <p:nvPicPr>
          <p:cNvPr id="3" name="Picture 2" descr="cropped_s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533552" y="688504"/>
            <a:ext cx="5029200" cy="7591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dirty="0">
                <a:solidFill>
                  <a:srgbClr val="60A5FA"/>
                </a:solidFill>
                <a:latin typeface="Inter"/>
              </a:rPr>
              <a:t>DESIGN AND ANALYSIS OF ALGORITHMS | 5TH SEMESTER</a:t>
            </a:r>
          </a:p>
          <a:p>
            <a:pPr algn="l"/>
            <a:r>
              <a:rPr sz="3200" b="1" dirty="0">
                <a:solidFill>
                  <a:srgbClr val="F8FAFC"/>
                </a:solidFill>
                <a:latin typeface="Inter Display"/>
              </a:rPr>
              <a:t>Job Scheduling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>
                <a:solidFill>
                  <a:srgbClr val="CBD5E1"/>
                </a:solidFill>
                <a:latin typeface="Inter"/>
              </a:rPr>
              <a:t>Greedy Heuristic and Dynamic Programming Optimization Under Resource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Course: DAA (5th Sem) | Student: Om Prajapati | Slide 1 of 15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F390E5B-5487-8A52-EE75-3647310F9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1318884"/>
              </p:ext>
            </p:extLst>
          </p:nvPr>
        </p:nvGraphicFramePr>
        <p:xfrm>
          <a:off x="533552" y="3614929"/>
          <a:ext cx="5029200" cy="499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1259662043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1717619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60A5FA"/>
                          </a:solidFill>
                          <a:latin typeface="Inter"/>
                        </a:rPr>
                        <a:t>Student &amp; Enrollment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F8FAFC"/>
                          </a:solidFill>
                          <a:latin typeface="Inter"/>
                        </a:rPr>
                        <a:t>Om Prajapati (</a:t>
                      </a:r>
                      <a:r>
                        <a:rPr lang="en-US" sz="1400" b="0" dirty="0">
                          <a:solidFill>
                            <a:srgbClr val="F8FAFC"/>
                          </a:solidFill>
                          <a:latin typeface="Inter"/>
                        </a:rPr>
                        <a:t>12402080601098</a:t>
                      </a:r>
                      <a:r>
                        <a:rPr sz="1400" b="0" dirty="0">
                          <a:solidFill>
                            <a:srgbClr val="F8FAFC"/>
                          </a:solidFill>
                          <a:latin typeface="Inter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792514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680B990-DE84-ED91-9DF3-7E1A80A17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079351"/>
              </p:ext>
            </p:extLst>
          </p:nvPr>
        </p:nvGraphicFramePr>
        <p:xfrm>
          <a:off x="533552" y="4483607"/>
          <a:ext cx="5029200" cy="499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>
                  <a:extLst>
                    <a:ext uri="{9D8B030D-6E8A-4147-A177-3AD203B41FA5}">
                      <a16:colId xmlns:a16="http://schemas.microsoft.com/office/drawing/2014/main" val="1259662043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1717619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sz="1400" b="1" dirty="0">
                          <a:solidFill>
                            <a:srgbClr val="60A5FA"/>
                          </a:solidFill>
                          <a:latin typeface="Inter"/>
                        </a:rPr>
                        <a:t>Student &amp; Enrollment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 dirty="0">
                          <a:solidFill>
                            <a:srgbClr val="F8FAFC"/>
                          </a:solidFill>
                          <a:latin typeface="Inter"/>
                        </a:rPr>
                        <a:t>Om P</a:t>
                      </a:r>
                      <a:r>
                        <a:rPr lang="en-US" sz="1400" b="0" dirty="0">
                          <a:solidFill>
                            <a:srgbClr val="F8FAFC"/>
                          </a:solidFill>
                          <a:latin typeface="Inter"/>
                        </a:rPr>
                        <a:t>atel</a:t>
                      </a:r>
                      <a:r>
                        <a:rPr sz="1400" b="0" dirty="0">
                          <a:solidFill>
                            <a:srgbClr val="F8FAFC"/>
                          </a:solidFill>
                          <a:latin typeface="Inter"/>
                        </a:rPr>
                        <a:t> (</a:t>
                      </a:r>
                      <a:r>
                        <a:rPr lang="en-US" sz="1400" b="0" dirty="0">
                          <a:solidFill>
                            <a:srgbClr val="F8FAFC"/>
                          </a:solidFill>
                          <a:latin typeface="Inter"/>
                        </a:rPr>
                        <a:t>12402080601099</a:t>
                      </a:r>
                      <a:r>
                        <a:rPr sz="1400" b="0" dirty="0">
                          <a:solidFill>
                            <a:srgbClr val="F8FAFC"/>
                          </a:solidFill>
                          <a:latin typeface="Inter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57925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2 | PROBLEM STATEMENT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Allocating Jobs Across Heterogeneous Resources to Maximize Total Profit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" y="2231136"/>
            <a:ext cx="2852928" cy="367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563EB"/>
                </a:solidFill>
                <a:latin typeface="Inter Display"/>
              </a:rPr>
              <a:t>Input &amp; Output Model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Candidate Jobs: </a:t>
            </a:r>
            <a:r>
              <a:rPr sz="1450" b="0">
                <a:solidFill>
                  <a:srgbClr val="334155"/>
                </a:solidFill>
                <a:latin typeface="Inter"/>
              </a:rPr>
              <a:t>Set of n tasks with arrival a_i, burst p_i, deadline d_i, and profit v_i.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Resource Pool: </a:t>
            </a:r>
            <a:r>
              <a:rPr sz="1450" b="0">
                <a:solidFill>
                  <a:srgbClr val="334155"/>
                </a:solidFill>
                <a:latin typeface="Inter"/>
              </a:rPr>
              <a:t>Set of m heterogeneous machines or staff with shift cap H_k.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Expected Output: </a:t>
            </a:r>
            <a:r>
              <a:rPr sz="1450" b="0">
                <a:solidFill>
                  <a:srgbClr val="334155"/>
                </a:solidFill>
                <a:latin typeface="Inter"/>
              </a:rPr>
              <a:t>Disjoint schedule S mapping jobs to start/end windows.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114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54296" y="2231136"/>
            <a:ext cx="2852928" cy="367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563EB"/>
                </a:solidFill>
                <a:latin typeface="Inter Display"/>
              </a:rPr>
              <a:t>System Constraints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Strict Deadlines: </a:t>
            </a:r>
            <a:r>
              <a:rPr sz="1450" b="0">
                <a:solidFill>
                  <a:srgbClr val="334155"/>
                </a:solidFill>
                <a:latin typeface="Inter"/>
              </a:rPr>
              <a:t>Scheduled tasks finish by deadline (C_i = s_i + p_i &lt;= d_i).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Shift Capacity: </a:t>
            </a:r>
            <a:r>
              <a:rPr sz="1450" b="0">
                <a:solidFill>
                  <a:srgbClr val="334155"/>
                </a:solidFill>
                <a:latin typeface="Inter"/>
              </a:rPr>
              <a:t>Total work on resource R_k stays within available hours H_k.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Exclusivity: </a:t>
            </a:r>
            <a:r>
              <a:rPr sz="1450" b="0">
                <a:solidFill>
                  <a:srgbClr val="334155"/>
                </a:solidFill>
                <a:latin typeface="Inter"/>
              </a:rPr>
              <a:t>Matching resource type required with zero interval overlap.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114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57616" y="2231136"/>
            <a:ext cx="2852928" cy="367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563EB"/>
                </a:solidFill>
                <a:latin typeface="Inter Display"/>
              </a:rPr>
              <a:t>System Objective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Maximize Profit: </a:t>
            </a:r>
            <a:r>
              <a:rPr sz="1450" b="0">
                <a:solidFill>
                  <a:srgbClr val="334155"/>
                </a:solidFill>
                <a:latin typeface="Inter"/>
              </a:rPr>
              <a:t>Maximize cumulative reward sum(v_i) across all resources.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High Utilization: </a:t>
            </a:r>
            <a:r>
              <a:rPr sz="1450" b="0">
                <a:solidFill>
                  <a:srgbClr val="334155"/>
                </a:solidFill>
                <a:latin typeface="Inter"/>
              </a:rPr>
              <a:t>Pack compatible timelines while minimizing missed jobs.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Dual Evaluation: </a:t>
            </a:r>
            <a:r>
              <a:rPr sz="1450" b="0">
                <a:solidFill>
                  <a:srgbClr val="334155"/>
                </a:solidFill>
                <a:latin typeface="Inter"/>
              </a:rPr>
              <a:t>Benchmark fast Greedy heuristics vs. exact DP optimization.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Problem Statement: Multi-Resource Deadline-Constrained Job Scheduling | Slide 2 of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ropped_s3_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3 | MOTIVATION &amp; REAL-WORLD APPLICATION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Resource Contention Under Deadlines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Why It Matters: </a:t>
            </a:r>
            <a:r>
              <a:rPr sz="1450" b="0">
                <a:solidFill>
                  <a:srgbClr val="334155"/>
                </a:solidFill>
                <a:latin typeface="Inter"/>
              </a:rPr>
              <a:t>Over-subscribed clusters lose revenue when high-value tasks miss deadlines.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Combinatorial Scale: </a:t>
            </a:r>
            <a:r>
              <a:rPr sz="1450" b="0">
                <a:solidFill>
                  <a:srgbClr val="334155"/>
                </a:solidFill>
                <a:latin typeface="Inter"/>
              </a:rPr>
              <a:t>Exhaustive O(2^n) search fails on large queues; FIFO drops top-profit jobs.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Cloud &amp; HPC Nodes: </a:t>
            </a:r>
            <a:r>
              <a:rPr sz="1450" b="0">
                <a:solidFill>
                  <a:srgbClr val="334155"/>
                </a:solidFill>
                <a:latin typeface="Inter"/>
              </a:rPr>
              <a:t>Assigns GPU/CPU batch workloads (R003) to maximize cluster revenue.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Factory &amp; DevOps: </a:t>
            </a:r>
            <a:r>
              <a:rPr sz="1450" b="0">
                <a:solidFill>
                  <a:srgbClr val="334155"/>
                </a:solidFill>
                <a:latin typeface="Inter"/>
              </a:rPr>
              <a:t>Schedules CNC machinery (R002), QA engineers (R004), and CI/CD pipelines.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Who Benefits: </a:t>
            </a:r>
            <a:r>
              <a:rPr sz="1450" b="0">
                <a:solidFill>
                  <a:srgbClr val="334155"/>
                </a:solidFill>
                <a:latin typeface="Inter"/>
              </a:rPr>
              <a:t>Cloud operators, factory floor planners, hospital OR teams, and IT ops.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Motivation &amp; Real-World Applications | Slide 3 of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4 | PROJECT OBJECTIVES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Six Measurable Objectives Grounded in Algorithm Design and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" y="2231136"/>
            <a:ext cx="2852928" cy="367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563EB"/>
                </a:solidFill>
                <a:latin typeface="Inter Display"/>
              </a:rPr>
              <a:t>Algorithmic Design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Dual Optimizers: </a:t>
            </a:r>
            <a:r>
              <a:rPr sz="1450" b="0">
                <a:solidFill>
                  <a:srgbClr val="334155"/>
                </a:solidFill>
                <a:latin typeface="Inter"/>
              </a:rPr>
              <a:t>Implement Greedy O(N log N + NM) and Exact DP O(N*T) engines.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Constraint Safety: </a:t>
            </a:r>
            <a:r>
              <a:rPr sz="1450" b="0">
                <a:solidFill>
                  <a:srgbClr val="334155"/>
                </a:solidFill>
                <a:latin typeface="Inter"/>
              </a:rPr>
              <a:t>Enforce 8 scheduling invariants with 100% deadline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114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54296" y="2231136"/>
            <a:ext cx="2852928" cy="367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563EB"/>
                </a:solidFill>
                <a:latin typeface="Inter Display"/>
              </a:rPr>
              <a:t>Empirical Rigor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Controlled Trials: </a:t>
            </a:r>
            <a:r>
              <a:rPr sz="1450" b="0">
                <a:solidFill>
                  <a:srgbClr val="334155"/>
                </a:solidFill>
                <a:latin typeface="Inter"/>
              </a:rPr>
              <a:t>Evaluate identical seeded inputs (N = 10, 50, 100, 500) over 5 runs.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Precision Timing: </a:t>
            </a:r>
            <a:r>
              <a:rPr sz="1450" b="0">
                <a:solidFill>
                  <a:srgbClr val="334155"/>
                </a:solidFill>
                <a:latin typeface="Inter"/>
              </a:rPr>
              <a:t>Measure pure algorithmic runtime via time.perf_counter() timers.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114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57616" y="2231136"/>
            <a:ext cx="2852928" cy="367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563EB"/>
                </a:solidFill>
                <a:latin typeface="Inter Display"/>
              </a:rPr>
              <a:t>Visual &amp; Analytical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Glass-Box Trace: </a:t>
            </a:r>
            <a:r>
              <a:rPr sz="1450" b="0">
                <a:solidFill>
                  <a:srgbClr val="334155"/>
                </a:solidFill>
                <a:latin typeface="Inter"/>
              </a:rPr>
              <a:t>Render interactive 2D DP tables DP[i][t] and Gantt timelines.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Asymptotic Study: </a:t>
            </a:r>
            <a:r>
              <a:rPr sz="1450" b="0">
                <a:solidFill>
                  <a:srgbClr val="334155"/>
                </a:solidFill>
                <a:latin typeface="Inter"/>
              </a:rPr>
              <a:t>Contrast theoretical Big-O bounds against practical scaling limits.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Project Objectives: Algorithmic Design, Benchmarking &amp; Verification | Slide 4 of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5 | EXISTING APPROACH &amp; BACKGROUND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Traditional Single-Rule Schedulers Miss Multi-Resource Profit Optima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Basic OS Approaches: </a:t>
            </a:r>
            <a:r>
              <a:rPr sz="1450" b="0">
                <a:solidFill>
                  <a:srgbClr val="334155"/>
                </a:solidFill>
                <a:latin typeface="Inter"/>
              </a:rPr>
              <a:t>Classical FCFS, SJF, and Priority rank tasks by a single static attribute.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Uniprocessor Limit: </a:t>
            </a:r>
            <a:r>
              <a:rPr sz="1450" b="0">
                <a:solidFill>
                  <a:srgbClr val="334155"/>
                </a:solidFill>
                <a:latin typeface="Inter"/>
              </a:rPr>
              <a:t>Standard textbook Job Sequencing assumes unit bursts (p_i = 1) on one machine.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Blind to Density: </a:t>
            </a:r>
            <a:r>
              <a:rPr sz="1450" b="0">
                <a:solidFill>
                  <a:srgbClr val="334155"/>
                </a:solidFill>
                <a:latin typeface="Inter"/>
              </a:rPr>
              <a:t>Single-rule dispatchers ignore reward-to-duration ratio (v_i / p_i) and types.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Myopic Local Trap: </a:t>
            </a:r>
            <a:r>
              <a:rPr sz="1450" b="0">
                <a:solidFill>
                  <a:srgbClr val="334155"/>
                </a:solidFill>
                <a:latin typeface="Inter"/>
              </a:rPr>
              <a:t>Greedy single-pass choices commit early, blocking higher-profit combinations.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Proposed Need: </a:t>
            </a:r>
            <a:r>
              <a:rPr sz="1450" b="0">
                <a:solidFill>
                  <a:srgbClr val="334155"/>
                </a:solidFill>
                <a:latin typeface="Inter"/>
              </a:rPr>
              <a:t>Pair fast multi-key Greedy heuristics with exact Multi-Resource DP.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035040" y="2057400"/>
          <a:ext cx="5394960" cy="3977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Comparison on Official 8-Job Multi-Resource Demo Dataset (J001-J008) | Slide 5 of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ropped_s6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6 | PROPOSED APPROACH &amp; SOLUTION FLOW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Eight-Stage DAA Methodology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1-2. Problem &amp; Data: </a:t>
            </a:r>
            <a:r>
              <a:rPr sz="1450" b="0">
                <a:solidFill>
                  <a:srgbClr val="334155"/>
                </a:solidFill>
                <a:latin typeface="Inter"/>
              </a:rPr>
              <a:t>Formulate job tuples (a_i, p_i, d_i, v_i) and seed SQLite workloads.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3-4. Algorithm Design: </a:t>
            </a:r>
            <a:r>
              <a:rPr sz="1450" b="0">
                <a:solidFill>
                  <a:srgbClr val="334155"/>
                </a:solidFill>
                <a:latin typeface="Inter"/>
              </a:rPr>
              <a:t>Pair composite Greedy heuristic sorting with Jackson's Rule DP recurrence.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5. Implementation: </a:t>
            </a:r>
            <a:r>
              <a:rPr sz="1450" b="0">
                <a:solidFill>
                  <a:srgbClr val="334155"/>
                </a:solidFill>
                <a:latin typeface="Inter"/>
              </a:rPr>
              <a:t>Build modular Python engines (greedy.py, dynamic_programming.py) &amp; verifier.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6. Multi-Size Testing: </a:t>
            </a:r>
            <a:r>
              <a:rPr sz="1450" b="0">
                <a:solidFill>
                  <a:srgbClr val="334155"/>
                </a:solidFill>
                <a:latin typeface="Inter"/>
              </a:rPr>
              <a:t>Evaluate identical datasets across Small (10), Medium (50), Large (100), XL (500).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7-8. Analysis &amp; Results: </a:t>
            </a:r>
            <a:r>
              <a:rPr sz="1450" b="0">
                <a:solidFill>
                  <a:srgbClr val="334155"/>
                </a:solidFill>
                <a:latin typeface="Inter"/>
              </a:rPr>
              <a:t>Compare 5-run mean perf_counter() timing, total profit, and scalability.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Proposed Approach &amp; Required 8-Stage Project Flow | Slide 6 of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7 | ALGORITHMS USED &amp; DATA STRUCTURES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Complementary Greedy and Dynamic Programming Algorithms Implemented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57400"/>
          <a:ext cx="10698480" cy="39776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Algorithm Implemented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Core Algorithmic Idea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Why Selected for Project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Relevant Data Structures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1. Resource-Aware Greedy (greedy.py)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Sorts jobs by composite key (d_i, -v_i/p_i, priority, p_i); assigns earliest feasible gap on compatible resource.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Provides ultra-fast O(N log N + N*M) scheduling that scales cleanly to N &gt;= 500 jobs in ~10 ms.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Sorted job array, resource hash map (res_pool), sorted interval list [(s, e)].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2. Multi-Resource Exact DP (dynamic_programming.py)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Orders jobs by deadline (Jackson's Rule); computes optimal profit over state tuples (t_1..t_m) &amp; 2D grid DP[i][t].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Guarantees global profit optimality across overlapping multi-job trade-offs where Greedy is suboptimal.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State dictionary (dp_dict), 2D matrix DP[N+1][T+1], backtracking history list.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4409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3. Weighted Interval &amp; 0/1 Knapsack DP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Uses binary search (bisect_right) for non-conflicting predecessor p[j] and capacity table DP[i][w].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Establishes theoretical uniprocessor baseline ($360 single timeline vs $765 multi-resource).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Sorted finish-time array, predecessor index array p[1..n], boolean take_decision.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Algorithms Implemented: Greedy Heuristic, Multi-Resource DP &amp; Interval Baselines | Slide 7 of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ropped_s8_pseudo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8 | ALGORITHM &amp; PSEUDOCODE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Greedy Heuristic Versus DP Recurrence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Greedy Sorting Key: </a:t>
            </a:r>
            <a:r>
              <a:rPr sz="1450" b="0">
                <a:solidFill>
                  <a:srgbClr val="334155"/>
                </a:solidFill>
                <a:latin typeface="Inter"/>
              </a:rPr>
              <a:t>Sorts feasible jobs by (d_i asc, -v_i/p_i desc, priority asc) in O(N log N).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Earliest-Gap Scan: </a:t>
            </a:r>
            <a:r>
              <a:rPr sz="1450" b="0">
                <a:solidFill>
                  <a:srgbClr val="334155"/>
                </a:solidFill>
                <a:latin typeface="Inter"/>
              </a:rPr>
              <a:t>Scans compatible resource R_k for earliest idle window [s, s+p_i] &lt;= min(d_i, H_k).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Greedy Complexity: </a:t>
            </a:r>
            <a:r>
              <a:rPr sz="1450" b="0">
                <a:solidFill>
                  <a:srgbClr val="334155"/>
                </a:solidFill>
                <a:latin typeface="Inter"/>
              </a:rPr>
              <a:t>Executes in O(N log N + N*M) time and O(N + M) linear auxiliary space.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DP Jackson Ordering: </a:t>
            </a:r>
            <a:r>
              <a:rPr sz="1450" b="0">
                <a:solidFill>
                  <a:srgbClr val="334155"/>
                </a:solidFill>
                <a:latin typeface="Inter"/>
              </a:rPr>
              <a:t>Sorts candidate tasks by deadline d_1 &lt;= ... &lt;= d_N for optimal substructure.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DP State Recurrence: </a:t>
            </a:r>
            <a:r>
              <a:rPr sz="1450" b="0">
                <a:solidFill>
                  <a:srgbClr val="334155"/>
                </a:solidFill>
                <a:latin typeface="Inter"/>
              </a:rPr>
              <a:t>DP[i][t] = max(DP[i-1][t], v_i + DP[i-1][min(t, d_i) - p_i]); backtracks from t*.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Algorithm Steps, Recurrence &amp; Complexity Bounds | Slide 8 of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ropped_s9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9 | SYSTEM DESIGN &amp; ARCHITECTURE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Four-Tier Modular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Presentation Layer: </a:t>
            </a:r>
            <a:r>
              <a:rPr sz="1450" b="0">
                <a:solidFill>
                  <a:srgbClr val="334155"/>
                </a:solidFill>
                <a:latin typeface="Inter"/>
              </a:rPr>
              <a:t>HTML5/CSS3 glassmorphism views and Canvas charts render schedules and DP grids.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Controller Layer (app.py): </a:t>
            </a:r>
            <a:r>
              <a:rPr sz="1450" b="0">
                <a:solidFill>
                  <a:srgbClr val="334155"/>
                </a:solidFill>
                <a:latin typeface="Inter"/>
              </a:rPr>
              <a:t>Flask routes validate inputs, manage demo presets, and serve REST JSON APIs.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Orchestrator (scheduler.py): </a:t>
            </a:r>
            <a:r>
              <a:rPr sz="1450" b="0">
                <a:solidFill>
                  <a:srgbClr val="334155"/>
                </a:solidFill>
                <a:latin typeface="Inter"/>
              </a:rPr>
              <a:t>JobScheduler facade normalizes DB rows, invokes optimizers, and logs telemetry.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Core DAA Layer: </a:t>
            </a:r>
            <a:r>
              <a:rPr sz="1450" b="0">
                <a:solidFill>
                  <a:srgbClr val="334155"/>
                </a:solidFill>
                <a:latin typeface="Inter"/>
              </a:rPr>
              <a:t>Pure Python modules (greedy.py, dynamic_programming.py, benchmark.py) run in-memory.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Persistence (database.db): </a:t>
            </a:r>
            <a:r>
              <a:rPr sz="1450" b="0">
                <a:solidFill>
                  <a:srgbClr val="334155"/>
                </a:solidFill>
                <a:latin typeface="Inter"/>
              </a:rPr>
              <a:t>SQLite 3 stores jobs, resources, schedules, execution_history, and benchmarks.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System Design &amp; Component Interaction Architecture | Slide 9 of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ropped_s10_im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304" y="0"/>
            <a:ext cx="6095390" cy="68580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731520" y="457200"/>
            <a:ext cx="5029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10 | IMPLEMENTATION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Python Stack &amp; Eight-Rule Verifier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5029200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Language &amp; Stack: </a:t>
            </a:r>
            <a:r>
              <a:rPr sz="1450" b="0">
                <a:solidFill>
                  <a:srgbClr val="334155"/>
                </a:solidFill>
                <a:latin typeface="Inter"/>
              </a:rPr>
              <a:t>Built with Python 3.14, Flask 3.1, SQLite 3, HTML5/CSS3, and Vanilla JS Canvas.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Key Modules: </a:t>
            </a:r>
            <a:r>
              <a:rPr sz="1450" b="0">
                <a:solidFill>
                  <a:srgbClr val="334155"/>
                </a:solidFill>
                <a:latin typeface="Inter"/>
              </a:rPr>
              <a:t>greedy.py (gap allocator), dynamic_programming.py (exact DP), benchmark.py (testbed).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Data Structures: </a:t>
            </a:r>
            <a:r>
              <a:rPr sz="1450" b="0">
                <a:solidFill>
                  <a:srgbClr val="334155"/>
                </a:solidFill>
                <a:latin typeface="Inter"/>
              </a:rPr>
              <a:t>Hash maps (res_pool, dp_dict), 2D matrices DP[N+1][T+1], and interval tuples.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8-Point Verifier: </a:t>
            </a:r>
            <a:r>
              <a:rPr sz="1450" b="0">
                <a:solidFill>
                  <a:srgbClr val="334155"/>
                </a:solidFill>
                <a:latin typeface="Inter"/>
              </a:rPr>
              <a:t>validate_schedule() audits every schedule for deadlines, shift caps, and zero overlap.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DP Safety Guard: </a:t>
            </a:r>
            <a:r>
              <a:rPr sz="1450" b="0">
                <a:solidFill>
                  <a:srgbClr val="334155"/>
                </a:solidFill>
                <a:latin typeface="Inter"/>
              </a:rPr>
              <a:t>Bypasses exact DP when N &gt;= 500 or N*T &gt; 300,000 to prevent memory exhaustion.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Implementation Stack, Modules &amp; Verification Guards | Slide 10 of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11 | PROJECT SCREENSHOTS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Actual Project Screenshots From Job Input to Benchmark Telemetry</a:t>
            </a:r>
          </a:p>
        </p:txBody>
      </p:sp>
      <p:pic>
        <p:nvPicPr>
          <p:cNvPr id="4" name="Picture 3" descr="inset_s1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57400"/>
            <a:ext cx="2926080" cy="1828800"/>
          </a:xfrm>
          <a:prstGeom prst="rect">
            <a:avLst/>
          </a:prstGeom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3749039" y="210312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Inter Display"/>
              </a:rPr>
              <a:t>1. Actual Input (/jobs)</a:t>
            </a:r>
          </a:p>
          <a:p>
            <a:r>
              <a:rPr sz="1400">
                <a:solidFill>
                  <a:srgbClr val="334155"/>
                </a:solidFill>
                <a:latin typeface="Inter"/>
              </a:rPr>
              <a:t>Official 8-job workload (J001-J008) with arrival, burst, priority, deadline, profit ($), and required resource type.</a:t>
            </a:r>
          </a:p>
        </p:txBody>
      </p:sp>
      <p:pic>
        <p:nvPicPr>
          <p:cNvPr id="6" name="Picture 5" descr="inset_s11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057400"/>
            <a:ext cx="2926080" cy="1828800"/>
          </a:xfrm>
          <a:prstGeom prst="rect">
            <a:avLst/>
          </a:prstGeom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9235440" y="210312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Inter Display"/>
              </a:rPr>
              <a:t>2. Algorithm Processing (/schedule)</a:t>
            </a:r>
          </a:p>
          <a:p>
            <a:r>
              <a:rPr sz="1400">
                <a:solidFill>
                  <a:srgbClr val="334155"/>
                </a:solidFill>
                <a:latin typeface="Inter"/>
              </a:rPr>
              <a:t>Interactive 2D DP State Table (DP[i][t]) showing step-by-step recurrence transitions and per-resource optimal profit.</a:t>
            </a:r>
          </a:p>
        </p:txBody>
      </p:sp>
      <p:pic>
        <p:nvPicPr>
          <p:cNvPr id="8" name="Picture 7" descr="inset_s11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60520"/>
            <a:ext cx="2926080" cy="1828800"/>
          </a:xfrm>
          <a:prstGeom prst="rect">
            <a:avLst/>
          </a:prstGeom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3749039" y="420624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Inter Display"/>
              </a:rPr>
              <a:t>3. Actual Output Schedule (/schedule)</a:t>
            </a:r>
          </a:p>
          <a:p>
            <a:r>
              <a:rPr sz="1400">
                <a:solidFill>
                  <a:srgbClr val="334155"/>
                </a:solidFill>
                <a:latin typeface="Inter"/>
              </a:rPr>
              <a:t>Generated non-overlapping schedule across R001-R004 achieving $765 total profit and 100% on-time deadline compliance.</a:t>
            </a:r>
          </a:p>
        </p:txBody>
      </p:sp>
      <p:pic>
        <p:nvPicPr>
          <p:cNvPr id="10" name="Picture 9" descr="inset_s11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4160520"/>
            <a:ext cx="2926080" cy="1828800"/>
          </a:xfrm>
          <a:prstGeom prst="rect">
            <a:avLst/>
          </a:prstGeom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9235440" y="4206240"/>
            <a:ext cx="21945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Inter Display"/>
              </a:rPr>
              <a:t>4. Result &amp; Performance (/comparison)</a:t>
            </a:r>
          </a:p>
          <a:p>
            <a:r>
              <a:rPr sz="1400">
                <a:solidFill>
                  <a:srgbClr val="334155"/>
                </a:solidFill>
                <a:latin typeface="Inter"/>
              </a:rPr>
              <a:t>Head-to-head benchmark suite comparing Greedy (1.39ms, $5,106) vs. DP (34.58ms, $5,535) on 50 identical jobs.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Screenshots Captured Directly From Group's ChronoSync Implementation | Slide 11 of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12 | EXPERIMENTAL RESULTS &amp; COMPARISON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Dynamic Programming Gains 8.4% Profit While Greedy Scales to 500 Jobs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57400"/>
          <a:ext cx="56692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Input Size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Algorithm 1: Greedy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Algorithm 2: Dynamic Prog.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10 Jobs (M=3)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0.33 ms | $721 (5 sched)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0.78 ms | $779 (6 sched, +8.0%)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50 Jobs (M=7)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1.08 ms | $5,106 (40 sched)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39.60 ms | $5,535 (44 sched, +8.4%)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100 Jobs (M=10)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2.72 ms | $11,082 (72 sched)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4,632.70 ms | $11,466 (80 sched)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500 Jobs (M=10)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10.74 ms | $17,869 (77 sched)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Bypassed (Guard: N*T = 117,000)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629400" y="2057400"/>
          <a:ext cx="4800600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Datasets: Seeded deterministic workloads (10, 50, 100, 500 jobs), 5-trial mean timing | Slide 12 of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13 | COMPLEXITY ANALYSIS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Asymptotic Complexity Bounds Compared With Practical Performance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205740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Algorithm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Best Case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Average Case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Worst Case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Space Complexity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Algorithm 1: Resource Greedy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O(N log 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O(N log N + N*M)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O(N log N + N^2)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O(N + M)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Algorithm 2: Multi-Res / Grid DP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O(N log N + N*T)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O(N log N + N*T)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O(N * prod(C_r))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O(N * T)</a:t>
                      </a:r>
                    </a:p>
                  </a:txBody>
                  <a:tcPr marL="73152" marR="73152" marT="36576" marB="36576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"/>
                        </a:rPr>
                        <a:t>Algorithm 3: Weighted Interval DP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O(N log 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O(N log 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O(N log 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Inter"/>
                        </a:rPr>
                        <a:t>O(N)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201168" indent="-201168" algn="l">
              <a:spcAft>
                <a:spcPts val="6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Theoretical vs. Practical: </a:t>
            </a:r>
            <a:r>
              <a:rPr sz="1450" b="0">
                <a:solidFill>
                  <a:srgbClr val="334155"/>
                </a:solidFill>
                <a:latin typeface="Inter"/>
              </a:rPr>
              <a:t>Greedy scales near-linearly from 0.33 ms (N=10) to 10.74 ms (N=500), matching O(N log N + N*M).</a:t>
            </a:r>
          </a:p>
          <a:p>
            <a:pPr marL="201168" indent="-201168" algn="l">
              <a:spcAft>
                <a:spcPts val="6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Pseudo-Polynomial Growth: </a:t>
            </a:r>
            <a:r>
              <a:rPr sz="1450" b="0">
                <a:solidFill>
                  <a:srgbClr val="334155"/>
                </a:solidFill>
                <a:latin typeface="Inter"/>
              </a:rPr>
              <a:t>DP runtime scales with timeline horizon T and resource state combinations (0.78 ms at N=10 to 4.63 s at N=100).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Complexity Analysis: Best, Average, Worst &amp; Space Bounds (N=Jobs, M=Resources, T=Horizon) | Slide 13 of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Inter"/>
              </a:rPr>
              <a:t>SLIDE 14 | ADVANTAGES, LIMITATIONS &amp; FUTURE SCOPE</a:t>
            </a:r>
          </a:p>
          <a:p>
            <a:pPr algn="l"/>
            <a:r>
              <a:rPr sz="2800" b="1">
                <a:solidFill>
                  <a:srgbClr val="0F172A"/>
                </a:solidFill>
                <a:latin typeface="Inter Display"/>
              </a:rPr>
              <a:t>Balancing Provable Profit Optimality With Industrial Scalability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291840" cy="4114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50976" y="2231136"/>
            <a:ext cx="2852928" cy="367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563EB"/>
                </a:solidFill>
                <a:latin typeface="Inter Display"/>
              </a:rPr>
              <a:t>Key Advantages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Dual-Engine Choice: </a:t>
            </a:r>
            <a:r>
              <a:rPr sz="1450" b="0">
                <a:solidFill>
                  <a:srgbClr val="334155"/>
                </a:solidFill>
                <a:latin typeface="Inter"/>
              </a:rPr>
              <a:t>Pairs exact DP profit gain (+8.4%) with sub-11ms Greedy speed.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Strict Safety Audit: </a:t>
            </a:r>
            <a:r>
              <a:rPr sz="1450" b="0">
                <a:solidFill>
                  <a:srgbClr val="334155"/>
                </a:solidFill>
                <a:latin typeface="Inter"/>
              </a:rPr>
              <a:t>8-point verifier ensures 100% deadline and shift compliance.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Visual Traceability: </a:t>
            </a:r>
            <a:r>
              <a:rPr sz="1450" b="0">
                <a:solidFill>
                  <a:srgbClr val="334155"/>
                </a:solidFill>
                <a:latin typeface="Inter"/>
              </a:rPr>
              <a:t>Exposes step-by-step Greedy logs and 2D DP tables in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2011680"/>
            <a:ext cx="3291840" cy="4114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654296" y="2231136"/>
            <a:ext cx="2852928" cy="367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563EB"/>
                </a:solidFill>
                <a:latin typeface="Inter Display"/>
              </a:rPr>
              <a:t>Realistic Limitations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State Space Growth: </a:t>
            </a:r>
            <a:r>
              <a:rPr sz="1450" b="0">
                <a:solidFill>
                  <a:srgbClr val="334155"/>
                </a:solidFill>
                <a:latin typeface="Inter"/>
              </a:rPr>
              <a:t>Exact multi-resource DP grows with horizon T (N &lt;= 200).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Non-Preemptive Core: </a:t>
            </a:r>
            <a:r>
              <a:rPr sz="1450" b="0">
                <a:solidFill>
                  <a:srgbClr val="334155"/>
                </a:solidFill>
                <a:latin typeface="Inter"/>
              </a:rPr>
              <a:t>Multi-resource engine assigns contiguous blocks without preemption.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Batch Assumption: </a:t>
            </a:r>
            <a:r>
              <a:rPr sz="1450" b="0">
                <a:solidFill>
                  <a:srgbClr val="334155"/>
                </a:solidFill>
                <a:latin typeface="Inter"/>
              </a:rPr>
              <a:t>Requires job durations and deadlines before scheduling.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2011680"/>
            <a:ext cx="3291840" cy="411480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57616" y="2231136"/>
            <a:ext cx="2852928" cy="3675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2563EB"/>
                </a:solidFill>
                <a:latin typeface="Inter Display"/>
              </a:rPr>
              <a:t>Future Scope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Branch-and-Bound: </a:t>
            </a:r>
            <a:r>
              <a:rPr sz="1450" b="0">
                <a:solidFill>
                  <a:srgbClr val="334155"/>
                </a:solidFill>
                <a:latin typeface="Inter"/>
              </a:rPr>
              <a:t>Prune dominated DP states to scale exact search past N = 1,000.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DAG Dependencies: </a:t>
            </a:r>
            <a:r>
              <a:rPr sz="1450" b="0">
                <a:solidFill>
                  <a:srgbClr val="334155"/>
                </a:solidFill>
                <a:latin typeface="Inter"/>
              </a:rPr>
              <a:t>Add task precedence graphs (J_a -&gt; J_b) and job migration.</a:t>
            </a:r>
          </a:p>
          <a:p>
            <a:pPr marL="201168" indent="-201168" algn="l">
              <a:spcAft>
                <a:spcPts val="800"/>
              </a:spcAft>
              <a:buFont typeface="Inter"/>
              <a:buChar char="•"/>
            </a:pPr>
            <a:r>
              <a:rPr sz="1600" b="1">
                <a:solidFill>
                  <a:srgbClr val="0F172A"/>
                </a:solidFill>
                <a:latin typeface="Inter"/>
              </a:rPr>
              <a:t>Online Streaming: </a:t>
            </a:r>
            <a:r>
              <a:rPr sz="1450" b="0">
                <a:solidFill>
                  <a:srgbClr val="334155"/>
                </a:solidFill>
                <a:latin typeface="Inter"/>
              </a:rPr>
              <a:t>Support dynamic arrivals with rolling-horizon re-optimization.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34155"/>
                </a:solidFill>
                <a:latin typeface="Inter"/>
              </a:rPr>
              <a:t>Advantages, Limitations &amp; Future Improvements | Slide 14 of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60A5FA"/>
                </a:solidFill>
                <a:latin typeface="Inter"/>
              </a:rPr>
              <a:t>SLIDE 15 | CONCLUSION &amp; REFERENCES</a:t>
            </a:r>
          </a:p>
          <a:p>
            <a:pPr algn="l"/>
            <a:r>
              <a:rPr sz="2800" b="1">
                <a:solidFill>
                  <a:srgbClr val="F8FAFC"/>
                </a:solidFill>
                <a:latin typeface="Inter Display"/>
              </a:rPr>
              <a:t>Conclusion and Academic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>
                <a:solidFill>
                  <a:srgbClr val="CBD5E1"/>
                </a:solidFill>
                <a:latin typeface="Inter"/>
              </a:rPr>
              <a:t>Dual-engine scheduler unifies Greedy scalability with Dynamic Programming profit optimality.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468880"/>
          <a:ext cx="1069848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2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Section</a:t>
                      </a:r>
                    </a:p>
                  </a:txBody>
                  <a:tcPr marL="73152" marR="73152" marT="36576" marB="36576"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8FAFC"/>
                          </a:solidFill>
                          <a:latin typeface="Inter Display"/>
                        </a:rPr>
                        <a:t>Summary of Findings &amp; Reference Sources</a:t>
                      </a:r>
                    </a:p>
                  </a:txBody>
                  <a:tcPr marL="73152" marR="73152" marT="36576" marB="36576"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0A5FA"/>
                          </a:solidFill>
                          <a:latin typeface="Inter"/>
                        </a:rPr>
                        <a:t>Problem &amp; Solution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Formulated multi-resource deadline-constrained job scheduling in Python/Flask using Resource-Aware Greedy O(N log N + NM) and Exact DP O(N*T).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0A5FA"/>
                          </a:solidFill>
                          <a:latin typeface="Inter"/>
                        </a:rPr>
                        <a:t>Key Findings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DP achieves +8.0% higher profit on N=10 ($779 vs $721) and +8.4% on N=50 ($5,535 vs $5,106) with 100% on-time rate; Greedy scales to N=500 in 10.74 ms.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0A5FA"/>
                          </a:solidFill>
                          <a:latin typeface="Inter"/>
                        </a:rPr>
                        <a:t>Books &amp; Papers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1. Cormen et al., Introduction to Algorithms (CLRS), 4th Ed., MIT Press.  2. Kleinberg &amp; Tardos, Algorithm Design, Pearson.  3. Jackson (1955), Naval Res. Logist.</a:t>
                      </a:r>
                    </a:p>
                  </a:txBody>
                  <a:tcPr marL="73152" marR="73152" marT="36576" marB="36576" anchor="ctr"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60A5FA"/>
                          </a:solidFill>
                          <a:latin typeface="Inter"/>
                        </a:rPr>
                        <a:t>Docs &amp; Datasets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F8FAFC"/>
                          </a:solidFill>
                          <a:latin typeface="Inter"/>
                        </a:rPr>
                        <a:t>4. Python 3.14 (time.perf_counter, sqlite3, bisect) &amp; Flask 3.1 Documentation.  5. ChronoSync Official Demo (J001-J008) &amp; Seeded Benchmark Suite (N=10..500).</a:t>
                      </a:r>
                    </a:p>
                  </a:txBody>
                  <a:tcPr marL="73152" marR="73152" marT="36576" marB="36576" anchor="ctr"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Inter"/>
              </a:rPr>
              <a:t>ChronoSync DAA Mini Project | Thank You | Slide 15 of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2373</Words>
  <Application>Microsoft Office PowerPoint</Application>
  <PresentationFormat>Widescreen</PresentationFormat>
  <Paragraphs>186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Inter</vt:lpstr>
      <vt:lpstr>Inter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Om Prajapati</cp:lastModifiedBy>
  <cp:revision>2</cp:revision>
  <dcterms:created xsi:type="dcterms:W3CDTF">2013-01-27T09:14:16Z</dcterms:created>
  <dcterms:modified xsi:type="dcterms:W3CDTF">2026-10-25T22:32:05Z</dcterms:modified>
  <cp:category/>
</cp:coreProperties>
</file>